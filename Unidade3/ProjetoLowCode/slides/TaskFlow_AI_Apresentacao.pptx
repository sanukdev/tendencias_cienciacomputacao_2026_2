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03920" y="-457200"/>
            <a:ext cx="4297680" cy="2926080"/>
          </a:xfrm>
          <a:prstGeom prst="roundRect">
            <a:avLst>
              <a:gd name="adj" fmla="val 12000"/>
            </a:avLst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1828800"/>
            <a:ext cx="3200400" cy="2103120"/>
          </a:xfrm>
          <a:prstGeom prst="roundRect">
            <a:avLst>
              <a:gd name="adj" fmla="val 12000"/>
            </a:avLst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0" y="3931920"/>
            <a:ext cx="4114800" cy="3291840"/>
          </a:xfrm>
          <a:prstGeom prst="roundRect">
            <a:avLst>
              <a:gd name="adj" fmla="val 12000"/>
            </a:avLst>
          </a:prstGeom>
          <a:solidFill>
            <a:srgbClr val="1D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66760" y="2331720"/>
            <a:ext cx="1965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41080" y="2679192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79408" y="2715768"/>
            <a:ext cx="960120" cy="109728"/>
          </a:xfrm>
          <a:prstGeom prst="roundRect">
            <a:avLst>
              <a:gd name="adj" fmla="val 12000"/>
            </a:avLst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41080" y="311810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79408" y="3154680"/>
            <a:ext cx="960120" cy="109728"/>
          </a:xfrm>
          <a:prstGeom prst="roundRect">
            <a:avLst>
              <a:gd name="adj" fmla="val 12000"/>
            </a:avLst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41080" y="3557016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86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79408" y="3593592"/>
            <a:ext cx="960120" cy="109728"/>
          </a:xfrm>
          <a:prstGeom prst="roundRect">
            <a:avLst>
              <a:gd name="adj" fmla="val 12000"/>
            </a:avLst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960120"/>
            <a:ext cx="6949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8CADC"/>
                </a:solidFill>
                <a:latin typeface="Aptos"/>
              </a:rPr>
              <a:t>PROJETO ACADÊMICO • LOW CODE +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00200"/>
            <a:ext cx="71323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TaskFlow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16352"/>
            <a:ext cx="667512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0">
                <a:solidFill>
                  <a:srgbClr val="DAE4F0"/>
                </a:solidFill>
                <a:latin typeface="Aptos"/>
              </a:rPr>
              <a:t>Gerenciamento de tarefas com
Inteligência Artificial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8"/>
            <a:ext cx="67665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AEC3DA"/>
                </a:solidFill>
                <a:latin typeface="Aptos"/>
              </a:rPr>
              <a:t>Protótipo funcional desenvolvido com a plataforma Bubble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85232"/>
            <a:ext cx="1143000" cy="64008"/>
          </a:xfrm>
          <a:prstGeom prst="rect">
            <a:avLst/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6949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EC3DA"/>
                </a:solidFill>
                <a:latin typeface="Aptos"/>
              </a:rPr>
              <a:t>Integrantes: [Nomes dos estudantes]  •  Disciplina: [Nome da disciplina]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16752"/>
            <a:ext cx="6766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EC3DA"/>
                </a:solidFill>
                <a:latin typeface="Aptos"/>
              </a:rPr>
              <a:t>Instituição: [Nome da instituição]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23B"/>
                </a:solidFill>
                <a:latin typeface="Aptos"/>
              </a:rPr>
              <a:t>O problema e 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677588"/>
                </a:solidFill>
                <a:latin typeface="Aptos"/>
              </a:rPr>
              <a:t>Uma aplicação simples para organizar tarefas e acompanhar prazos.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4864"/>
          </a:xfrm>
          <a:prstGeom prst="rect">
            <a:avLst/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77588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1663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166360" cy="566928"/>
          </a:xfrm>
          <a:prstGeom prst="roundRect">
            <a:avLst>
              <a:gd name="adj" fmla="val 12000"/>
            </a:avLst>
          </a:prstGeom>
          <a:solidFill>
            <a:srgbClr val="FF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B44E36"/>
                </a:solidFill>
                <a:latin typeface="Aptos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4526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2223B"/>
                </a:solidFill>
                <a:latin typeface="Aptos"/>
              </a:rPr>
              <a:t>Tarefas dispersas e prazos esquecidos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35112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01568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Dificuldade em acompanhar o que está pendente.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420624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96512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Falta de organização por prioridade e prazo.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490118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F9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91456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Planejamento feito manualmente.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166360" cy="4251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5166360" cy="566928"/>
          </a:xfrm>
          <a:prstGeom prst="roundRect">
            <a:avLst>
              <a:gd name="adj" fmla="val 12000"/>
            </a:avLst>
          </a:prstGeom>
          <a:solidFill>
            <a:srgbClr val="E1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38258"/>
                </a:solidFill>
                <a:latin typeface="Aptos"/>
              </a:rPr>
              <a:t>SOLUÇÃO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78608"/>
            <a:ext cx="4526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2223B"/>
                </a:solidFill>
                <a:latin typeface="Aptos"/>
              </a:rPr>
              <a:t>TaskFlow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1112" y="35112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401568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Cadastrar e visualizar tarefas em um só lugar.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11112" y="420624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4096512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Acompanhar status e prazos.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1112" y="490118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27939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263142"/>
                </a:solidFill>
                <a:latin typeface="Aptos"/>
              </a:rPr>
              <a:t>Receber sugestões de organização com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23B"/>
                </a:solidFill>
                <a:latin typeface="Aptos"/>
              </a:rPr>
              <a:t>Como o protótipo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677588"/>
                </a:solidFill>
                <a:latin typeface="Aptos"/>
              </a:rPr>
              <a:t>Funcionalidades previstas e plataforma de desenvolvimento.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4864"/>
          </a:xfrm>
          <a:prstGeom prst="rect">
            <a:avLst/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7758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070DC"/>
                </a:solidFill>
                <a:latin typeface="Aptos"/>
              </a:rPr>
              <a:t>FUNCIONALIDADES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70D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3566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23B"/>
                </a:solidFill>
                <a:latin typeface="Aptos"/>
              </a:rPr>
              <a:t>Cadastrar tarefa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3794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77588"/>
                </a:solidFill>
                <a:latin typeface="Aptos"/>
              </a:rPr>
              <a:t>Título, descrição e prazo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008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99816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70D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08376"/>
            <a:ext cx="3566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23B"/>
                </a:solidFill>
                <a:latin typeface="Aptos"/>
              </a:rPr>
              <a:t>Organizar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28416"/>
            <a:ext cx="3794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77588"/>
                </a:solidFill>
                <a:latin typeface="Aptos"/>
              </a:rPr>
              <a:t>Pendente, em andamento ou concluída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3133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70D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49624"/>
            <a:ext cx="3566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23B"/>
                </a:solidFill>
                <a:latin typeface="Aptos"/>
              </a:rPr>
              <a:t>Acompanhar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69664"/>
            <a:ext cx="3794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77588"/>
                </a:solidFill>
                <a:latin typeface="Aptos"/>
              </a:rPr>
              <a:t>Visualizar tarefas em um painel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72584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E1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8231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070D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90872"/>
            <a:ext cx="35661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2223B"/>
                </a:solidFill>
                <a:latin typeface="Aptos"/>
              </a:rPr>
              <a:t>Consultar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10912"/>
            <a:ext cx="3794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77588"/>
                </a:solidFill>
                <a:latin typeface="Aptos"/>
              </a:rPr>
              <a:t>Receber sugestões de planejamento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737360"/>
            <a:ext cx="5349240" cy="4315968"/>
          </a:xfrm>
          <a:prstGeom prst="roundRect">
            <a:avLst>
              <a:gd name="adj" fmla="val 12000"/>
            </a:avLst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084831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8CADC"/>
                </a:solidFill>
                <a:latin typeface="Aptos"/>
              </a:rPr>
              <a:t>PLATAFORMA ESCOLHIDA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44805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Bubble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218688"/>
            <a:ext cx="4480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D5E1F0"/>
                </a:solidFill>
                <a:latin typeface="Aptos"/>
              </a:rPr>
              <a:t>Ferramenta visual para criar aplicações web.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041648"/>
            <a:ext cx="1389888" cy="475488"/>
          </a:xfrm>
          <a:prstGeom prst="roundRect">
            <a:avLst>
              <a:gd name="adj" fmla="val 12000"/>
            </a:avLst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151376"/>
            <a:ext cx="13898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Interface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7848" y="4041648"/>
            <a:ext cx="1389888" cy="475488"/>
          </a:xfrm>
          <a:prstGeom prst="roundRect">
            <a:avLst>
              <a:gd name="adj" fmla="val 12000"/>
            </a:avLst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4151376"/>
            <a:ext cx="13898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Workflows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0616" y="4041648"/>
            <a:ext cx="1389888" cy="475488"/>
          </a:xfrm>
          <a:prstGeom prst="roundRect">
            <a:avLst>
              <a:gd name="adj" fmla="val 12000"/>
            </a:avLst>
          </a:prstGeom>
          <a:solidFill>
            <a:srgbClr val="86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0616" y="4151376"/>
            <a:ext cx="13898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API de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828032"/>
            <a:ext cx="4434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D5E1F0"/>
                </a:solidFill>
                <a:latin typeface="Aptos"/>
              </a:rPr>
              <a:t>O Bubble reúne interface, banco de dados e lógica visual, reduzindo a necessidade de código tradicional.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596128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48CADC"/>
                </a:solidFill>
                <a:latin typeface="Aptos"/>
              </a:rPr>
              <a:t>Objetivo: construir e testar rapidamente um protótipo.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23B"/>
                </a:solidFill>
                <a:latin typeface="Aptos"/>
              </a:rPr>
              <a:t>Tecnologias e fluxo da aplicação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677588"/>
                </a:solidFill>
                <a:latin typeface="Aptos"/>
              </a:rPr>
              <a:t>Low Code, No Code e Vibecode trabalhando em conjunto.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777240" cy="54864"/>
          </a:xfrm>
          <a:prstGeom prst="rect">
            <a:avLst/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7758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55648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55648"/>
            <a:ext cx="3154680" cy="109728"/>
          </a:xfrm>
          <a:prstGeom prst="rect">
            <a:avLst/>
          </a:prstGeom>
          <a:solidFill>
            <a:srgbClr val="30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2697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070DC"/>
                </a:solidFill>
                <a:latin typeface="Aptos"/>
              </a:rPr>
              <a:t>LOW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26974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Construção visual
com lógica configurável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55648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755648"/>
            <a:ext cx="3154680" cy="109728"/>
          </a:xfrm>
          <a:prstGeom prst="rect">
            <a:avLst/>
          </a:prstGeom>
          <a:solidFill>
            <a:srgbClr val="35A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29968"/>
            <a:ext cx="2697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5A879"/>
                </a:solidFill>
                <a:latin typeface="Aptos"/>
              </a:rPr>
              <a:t>NO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50592"/>
            <a:ext cx="26974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Telas, formulários
e fluxos sem código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755648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755648"/>
            <a:ext cx="3154680" cy="109728"/>
          </a:xfrm>
          <a:prstGeom prst="rect">
            <a:avLst/>
          </a:prstGeom>
          <a:solidFill>
            <a:srgbClr val="865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029968"/>
            <a:ext cx="2697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865CDC"/>
                </a:solidFill>
                <a:latin typeface="Aptos"/>
              </a:rPr>
              <a:t>VIBECODE +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50592"/>
            <a:ext cx="26974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23B"/>
                </a:solidFill>
                <a:latin typeface="Aptos"/>
              </a:rPr>
              <a:t>Prompts para apoiar
a criação de recursos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070DC"/>
                </a:solidFill>
                <a:latin typeface="Aptos"/>
              </a:rPr>
              <a:t>FLUXO DE FUNCIONAMENTO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14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12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Usuário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cadastra tarefa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2968" y="440740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70D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0168" y="4114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43159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2223B"/>
                </a:solidFill>
                <a:latin typeface="Aptos"/>
              </a:rPr>
              <a:t>Bubble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468172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12223B"/>
                </a:solidFill>
                <a:latin typeface="Aptos"/>
              </a:rPr>
              <a:t>salva e organiza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440740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70DC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4114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43159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2223B"/>
                </a:solidFill>
                <a:latin typeface="Aptos"/>
              </a:rPr>
              <a:t>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468172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12223B"/>
                </a:solidFill>
                <a:latin typeface="Aptos"/>
              </a:rPr>
              <a:t>sugere planejamento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407408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3070DC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6024" y="4114800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3184" y="431596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12223B"/>
                </a:solidFill>
                <a:latin typeface="Aptos"/>
              </a:rPr>
              <a:t>Usuário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468172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0">
                <a:solidFill>
                  <a:srgbClr val="12223B"/>
                </a:solidFill>
                <a:latin typeface="Aptos"/>
              </a:rPr>
              <a:t>acompanha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2356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77588"/>
                </a:solidFill>
                <a:latin typeface="Aptos"/>
              </a:rPr>
              <a:t>A IA oferece sugestões; o usuário decide se deseja aplicá-las. A integração será validada por testes.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Resultados esperados e 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097280"/>
            <a:ext cx="777240" cy="54864"/>
          </a:xfrm>
          <a:prstGeom prst="rect">
            <a:avLst/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12080" cy="3520440"/>
          </a:xfrm>
          <a:prstGeom prst="roundRect">
            <a:avLst>
              <a:gd name="adj" fmla="val 12000"/>
            </a:avLst>
          </a:prstGeom>
          <a:solidFill>
            <a:srgbClr val="1C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8CADC"/>
                </a:solidFill>
                <a:latin typeface="Aptos"/>
              </a:rPr>
              <a:t>ENTREGAS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8992" y="25968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87168"/>
            <a:ext cx="432511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Protótipo funcional no Bubble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316382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054096"/>
            <a:ext cx="432511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Link e screenshots da aplicação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8992" y="373075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621024"/>
            <a:ext cx="432511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README e documentação no GitHub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429768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48C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187952"/>
            <a:ext cx="432511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Apresentação e demonstração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166360" cy="3520440"/>
          </a:xfrm>
          <a:prstGeom prst="roundRect">
            <a:avLst>
              <a:gd name="adj" fmla="val 12000"/>
            </a:avLst>
          </a:prstGeom>
          <a:solidFill>
            <a:srgbClr val="1C3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0195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8CADC"/>
                </a:solidFill>
                <a:latin typeface="Aptos"/>
              </a:rPr>
              <a:t>REFLEXÃO CRÍTICA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39572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72E0AD"/>
                </a:solidFill>
                <a:latin typeface="Aptos"/>
              </a:rPr>
              <a:t>Vantagens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24912"/>
            <a:ext cx="20574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Rapidez
• Facilidade visual
• Integração com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395728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BE73"/>
                </a:solidFill>
                <a:latin typeface="Aptos"/>
              </a:rPr>
              <a:t>Limitações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24912"/>
            <a:ext cx="214884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• Dependência da plataforma
• Personalização limitada
• Possíveis custos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DBE7F4"/>
                </a:solidFill>
                <a:latin typeface="Aptos"/>
              </a:rPr>
              <a:t>O TaskFlow AI demonstra como ferramentas visuais e IA podem simplificar a criação de um protótipo, mantendo a importância de testar e validar cada funcionalidade.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424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9FB7D3"/>
                </a:solidFill>
                <a:latin typeface="Aptos"/>
              </a:rPr>
              <a:t>Obrigado!  •  Integrantes: [Nomes]  •  Instituição: [Nome]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